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8814f5d517ac12a" providerId="LiveId" clId="{C8A0EADC-9E66-41C2-81FB-27AF563899AB}"/>
    <pc:docChg chg="undo custSel addSld delSld modSld">
      <pc:chgData name="" userId="e8814f5d517ac12a" providerId="LiveId" clId="{C8A0EADC-9E66-41C2-81FB-27AF563899AB}" dt="2026-04-21T04:52:49.958" v="1247" actId="20577"/>
      <pc:docMkLst>
        <pc:docMk/>
      </pc:docMkLst>
      <pc:sldChg chg="modSp">
        <pc:chgData name="" userId="e8814f5d517ac12a" providerId="LiveId" clId="{C8A0EADC-9E66-41C2-81FB-27AF563899AB}" dt="2026-04-21T03:25:17.587" v="107" actId="14100"/>
        <pc:sldMkLst>
          <pc:docMk/>
          <pc:sldMk cId="0" sldId="256"/>
        </pc:sldMkLst>
        <pc:spChg chg="mod">
          <ac:chgData name="" userId="e8814f5d517ac12a" providerId="LiveId" clId="{C8A0EADC-9E66-41C2-81FB-27AF563899AB}" dt="2026-04-21T03:02:36.460" v="5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" userId="e8814f5d517ac12a" providerId="LiveId" clId="{C8A0EADC-9E66-41C2-81FB-27AF563899AB}" dt="2026-04-21T03:25:17.587" v="107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" userId="e8814f5d517ac12a" providerId="LiveId" clId="{C8A0EADC-9E66-41C2-81FB-27AF563899AB}" dt="2026-04-21T03:25:12.380" v="106" actId="20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" userId="e8814f5d517ac12a" providerId="LiveId" clId="{C8A0EADC-9E66-41C2-81FB-27AF563899AB}" dt="2026-04-21T03:03:20.809" v="60" actId="255"/>
        <pc:sldMkLst>
          <pc:docMk/>
          <pc:sldMk cId="0" sldId="257"/>
        </pc:sldMkLst>
        <pc:spChg chg="mod">
          <ac:chgData name="" userId="e8814f5d517ac12a" providerId="LiveId" clId="{C8A0EADC-9E66-41C2-81FB-27AF563899AB}" dt="2026-04-21T03:03:01.069" v="54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" userId="e8814f5d517ac12a" providerId="LiveId" clId="{C8A0EADC-9E66-41C2-81FB-27AF563899AB}" dt="2026-04-21T03:02:57.025" v="53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" userId="e8814f5d517ac12a" providerId="LiveId" clId="{C8A0EADC-9E66-41C2-81FB-27AF563899AB}" dt="2026-04-21T03:03:04.535" v="55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" userId="e8814f5d517ac12a" providerId="LiveId" clId="{C8A0EADC-9E66-41C2-81FB-27AF563899AB}" dt="2026-04-21T03:03:07.345" v="56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" userId="e8814f5d517ac12a" providerId="LiveId" clId="{C8A0EADC-9E66-41C2-81FB-27AF563899AB}" dt="2026-04-21T03:03:14.365" v="58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" userId="e8814f5d517ac12a" providerId="LiveId" clId="{C8A0EADC-9E66-41C2-81FB-27AF563899AB}" dt="2026-04-21T03:03:11.326" v="57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" userId="e8814f5d517ac12a" providerId="LiveId" clId="{C8A0EADC-9E66-41C2-81FB-27AF563899AB}" dt="2026-04-21T03:03:17.640" v="59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" userId="e8814f5d517ac12a" providerId="LiveId" clId="{C8A0EADC-9E66-41C2-81FB-27AF563899AB}" dt="2026-04-21T03:03:20.809" v="60" actId="255"/>
          <ac:spMkLst>
            <pc:docMk/>
            <pc:sldMk cId="0" sldId="257"/>
            <ac:spMk id="24" creationId="{00000000-0000-0000-0000-000000000000}"/>
          </ac:spMkLst>
        </pc:spChg>
      </pc:sldChg>
      <pc:sldChg chg="addSp delSp modSp modTransition">
        <pc:chgData name="" userId="e8814f5d517ac12a" providerId="LiveId" clId="{C8A0EADC-9E66-41C2-81FB-27AF563899AB}" dt="2026-04-21T03:26:02.889" v="108"/>
        <pc:sldMkLst>
          <pc:docMk/>
          <pc:sldMk cId="0" sldId="259"/>
        </pc:sldMkLst>
        <pc:spChg chg="add del">
          <ac:chgData name="" userId="e8814f5d517ac12a" providerId="LiveId" clId="{C8A0EADC-9E66-41C2-81FB-27AF563899AB}" dt="2026-04-21T03:24:02.378" v="75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0" creationId="{00000000-0000-0000-0000-000000000000}"/>
          </ac:spMkLst>
        </pc:spChg>
        <pc:spChg chg="del">
          <ac:chgData name="" userId="e8814f5d517ac12a" providerId="LiveId" clId="{C8A0EADC-9E66-41C2-81FB-27AF563899AB}" dt="2026-04-21T03:22:34.634" v="63" actId="478"/>
          <ac:spMkLst>
            <pc:docMk/>
            <pc:sldMk cId="0" sldId="259"/>
            <ac:spMk id="3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5" creationId="{00000000-0000-0000-0000-000000000000}"/>
          </ac:spMkLst>
        </pc:spChg>
        <pc:spChg chg="del mod">
          <ac:chgData name="" userId="e8814f5d517ac12a" providerId="LiveId" clId="{C8A0EADC-9E66-41C2-81FB-27AF563899AB}" dt="2026-04-21T03:24:17.841" v="77" actId="478"/>
          <ac:spMkLst>
            <pc:docMk/>
            <pc:sldMk cId="0" sldId="259"/>
            <ac:spMk id="4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4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5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6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1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2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3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4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5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6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7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8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79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80" creationId="{00000000-0000-0000-0000-000000000000}"/>
          </ac:spMkLst>
        </pc:spChg>
        <pc:spChg chg="del">
          <ac:chgData name="" userId="e8814f5d517ac12a" providerId="LiveId" clId="{C8A0EADC-9E66-41C2-81FB-27AF563899AB}" dt="2026-04-21T03:22:38.710" v="64" actId="478"/>
          <ac:spMkLst>
            <pc:docMk/>
            <pc:sldMk cId="0" sldId="259"/>
            <ac:spMk id="81" creationId="{00000000-0000-0000-0000-000000000000}"/>
          </ac:spMkLst>
        </pc:spChg>
        <pc:spChg chg="add">
          <ac:chgData name="" userId="e8814f5d517ac12a" providerId="LiveId" clId="{C8A0EADC-9E66-41C2-81FB-27AF563899AB}" dt="2026-04-21T03:23:10.491" v="67"/>
          <ac:spMkLst>
            <pc:docMk/>
            <pc:sldMk cId="0" sldId="259"/>
            <ac:spMk id="83" creationId="{C014983A-C16E-4B2F-9C94-19AF9B85F21A}"/>
          </ac:spMkLst>
        </pc:spChg>
        <pc:picChg chg="add mod">
          <ac:chgData name="" userId="e8814f5d517ac12a" providerId="LiveId" clId="{C8A0EADC-9E66-41C2-81FB-27AF563899AB}" dt="2026-04-21T03:24:03.740" v="76" actId="1076"/>
          <ac:picMkLst>
            <pc:docMk/>
            <pc:sldMk cId="0" sldId="259"/>
            <ac:picMk id="84" creationId="{BF0536C6-AD02-49D4-ADCC-25ECE3F2A702}"/>
          </ac:picMkLst>
        </pc:picChg>
        <pc:picChg chg="add mod">
          <ac:chgData name="" userId="e8814f5d517ac12a" providerId="LiveId" clId="{C8A0EADC-9E66-41C2-81FB-27AF563899AB}" dt="2026-04-21T03:24:24.891" v="82" actId="1076"/>
          <ac:picMkLst>
            <pc:docMk/>
            <pc:sldMk cId="0" sldId="259"/>
            <ac:picMk id="85" creationId="{DE24F703-BECD-457B-952F-48440575D71D}"/>
          </ac:picMkLst>
        </pc:picChg>
      </pc:sldChg>
      <pc:sldChg chg="addSp delSp modSp">
        <pc:chgData name="" userId="e8814f5d517ac12a" providerId="LiveId" clId="{C8A0EADC-9E66-41C2-81FB-27AF563899AB}" dt="2026-04-21T04:52:49.958" v="1247" actId="20577"/>
        <pc:sldMkLst>
          <pc:docMk/>
          <pc:sldMk cId="0" sldId="262"/>
        </pc:sldMkLst>
        <pc:spChg chg="mod">
          <ac:chgData name="" userId="e8814f5d517ac12a" providerId="LiveId" clId="{C8A0EADC-9E66-41C2-81FB-27AF563899AB}" dt="2026-04-21T03:28:00.939" v="172" actId="20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" userId="e8814f5d517ac12a" providerId="LiveId" clId="{C8A0EADC-9E66-41C2-81FB-27AF563899AB}" dt="2026-04-21T03:28:13.464" v="177" actId="14100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" userId="e8814f5d517ac12a" providerId="LiveId" clId="{C8A0EADC-9E66-41C2-81FB-27AF563899AB}" dt="2026-04-21T03:28:17.679" v="179" actId="47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" userId="e8814f5d517ac12a" providerId="LiveId" clId="{C8A0EADC-9E66-41C2-81FB-27AF563899AB}" dt="2026-04-21T04:30:04.327" v="970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" userId="e8814f5d517ac12a" providerId="LiveId" clId="{C8A0EADC-9E66-41C2-81FB-27AF563899AB}" dt="2026-04-21T04:30:04.327" v="970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" userId="e8814f5d517ac12a" providerId="LiveId" clId="{C8A0EADC-9E66-41C2-81FB-27AF563899AB}" dt="2026-04-21T04:30:04.327" v="970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" userId="e8814f5d517ac12a" providerId="LiveId" clId="{C8A0EADC-9E66-41C2-81FB-27AF563899AB}" dt="2026-04-21T04:30:09.865" v="971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" userId="e8814f5d517ac12a" providerId="LiveId" clId="{C8A0EADC-9E66-41C2-81FB-27AF563899AB}" dt="2026-04-21T04:30:09.865" v="971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" userId="e8814f5d517ac12a" providerId="LiveId" clId="{C8A0EADC-9E66-41C2-81FB-27AF563899AB}" dt="2026-04-21T04:52:49.958" v="1247" actId="20577"/>
          <ac:spMkLst>
            <pc:docMk/>
            <pc:sldMk cId="0" sldId="262"/>
            <ac:spMk id="28" creationId="{00000000-0000-0000-0000-000000000000}"/>
          </ac:spMkLst>
        </pc:spChg>
        <pc:spChg chg="mod">
          <ac:chgData name="" userId="e8814f5d517ac12a" providerId="LiveId" clId="{C8A0EADC-9E66-41C2-81FB-27AF563899AB}" dt="2026-04-21T04:30:09.865" v="971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" userId="e8814f5d517ac12a" providerId="LiveId" clId="{C8A0EADC-9E66-41C2-81FB-27AF563899AB}" dt="2026-04-21T04:30:09.865" v="971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" userId="e8814f5d517ac12a" providerId="LiveId" clId="{C8A0EADC-9E66-41C2-81FB-27AF563899AB}" dt="2026-04-21T04:30:09.865" v="971" actId="1076"/>
          <ac:spMkLst>
            <pc:docMk/>
            <pc:sldMk cId="0" sldId="262"/>
            <ac:spMk id="31" creationId="{00000000-0000-0000-0000-000000000000}"/>
          </ac:spMkLst>
        </pc:spChg>
        <pc:spChg chg="del mod">
          <ac:chgData name="" userId="e8814f5d517ac12a" providerId="LiveId" clId="{C8A0EADC-9E66-41C2-81FB-27AF563899AB}" dt="2026-04-21T04:27:02.593" v="812" actId="478"/>
          <ac:spMkLst>
            <pc:docMk/>
            <pc:sldMk cId="0" sldId="262"/>
            <ac:spMk id="32" creationId="{00000000-0000-0000-0000-000000000000}"/>
          </ac:spMkLst>
        </pc:spChg>
        <pc:spChg chg="del mod">
          <ac:chgData name="" userId="e8814f5d517ac12a" providerId="LiveId" clId="{C8A0EADC-9E66-41C2-81FB-27AF563899AB}" dt="2026-04-21T04:27:02.593" v="812" actId="478"/>
          <ac:spMkLst>
            <pc:docMk/>
            <pc:sldMk cId="0" sldId="262"/>
            <ac:spMk id="33" creationId="{00000000-0000-0000-0000-000000000000}"/>
          </ac:spMkLst>
        </pc:spChg>
        <pc:spChg chg="add mod">
          <ac:chgData name="" userId="e8814f5d517ac12a" providerId="LiveId" clId="{C8A0EADC-9E66-41C2-81FB-27AF563899AB}" dt="2026-04-21T04:38:25.910" v="1082" actId="14100"/>
          <ac:spMkLst>
            <pc:docMk/>
            <pc:sldMk cId="0" sldId="262"/>
            <ac:spMk id="35" creationId="{EB6B1E82-6C08-4EA6-8636-7BC0DFD4665C}"/>
          </ac:spMkLst>
        </pc:spChg>
        <pc:spChg chg="add mod">
          <ac:chgData name="" userId="e8814f5d517ac12a" providerId="LiveId" clId="{C8A0EADC-9E66-41C2-81FB-27AF563899AB}" dt="2026-04-21T04:30:09.865" v="971" actId="1076"/>
          <ac:spMkLst>
            <pc:docMk/>
            <pc:sldMk cId="0" sldId="262"/>
            <ac:spMk id="36" creationId="{1D3A347D-8E3A-41C1-B0FE-97CE629EEBAF}"/>
          </ac:spMkLst>
        </pc:spChg>
        <pc:spChg chg="add mod">
          <ac:chgData name="" userId="e8814f5d517ac12a" providerId="LiveId" clId="{C8A0EADC-9E66-41C2-81FB-27AF563899AB}" dt="2026-04-21T04:52:22.585" v="1174" actId="20577"/>
          <ac:spMkLst>
            <pc:docMk/>
            <pc:sldMk cId="0" sldId="262"/>
            <ac:spMk id="37" creationId="{9179FA0D-7D05-4A75-B269-BA80FB91BCC0}"/>
          </ac:spMkLst>
        </pc:spChg>
        <pc:spChg chg="add mod">
          <ac:chgData name="" userId="e8814f5d517ac12a" providerId="LiveId" clId="{C8A0EADC-9E66-41C2-81FB-27AF563899AB}" dt="2026-04-21T03:59:08.821" v="748" actId="1076"/>
          <ac:spMkLst>
            <pc:docMk/>
            <pc:sldMk cId="0" sldId="262"/>
            <ac:spMk id="38" creationId="{61189C19-C188-472B-BA44-696286DD00FD}"/>
          </ac:spMkLst>
        </pc:spChg>
        <pc:spChg chg="add mod">
          <ac:chgData name="" userId="e8814f5d517ac12a" providerId="LiveId" clId="{C8A0EADC-9E66-41C2-81FB-27AF563899AB}" dt="2026-04-21T03:58:44.367" v="742" actId="1076"/>
          <ac:spMkLst>
            <pc:docMk/>
            <pc:sldMk cId="0" sldId="262"/>
            <ac:spMk id="39" creationId="{A0A71212-3575-4BA7-BE48-18BC2A24943D}"/>
          </ac:spMkLst>
        </pc:spChg>
        <pc:spChg chg="add mod">
          <ac:chgData name="" userId="e8814f5d517ac12a" providerId="LiveId" clId="{C8A0EADC-9E66-41C2-81FB-27AF563899AB}" dt="2026-04-21T04:39:07.793" v="1151" actId="20577"/>
          <ac:spMkLst>
            <pc:docMk/>
            <pc:sldMk cId="0" sldId="262"/>
            <ac:spMk id="40" creationId="{E5871ACD-14E1-4461-85AA-6EFCC924FE32}"/>
          </ac:spMkLst>
        </pc:spChg>
        <pc:spChg chg="add del">
          <ac:chgData name="" userId="e8814f5d517ac12a" providerId="LiveId" clId="{C8A0EADC-9E66-41C2-81FB-27AF563899AB}" dt="2026-04-21T04:30:18.965" v="975"/>
          <ac:spMkLst>
            <pc:docMk/>
            <pc:sldMk cId="0" sldId="262"/>
            <ac:spMk id="41" creationId="{6DD555AB-0F1C-4A01-88C7-43CBE68CE2F4}"/>
          </ac:spMkLst>
        </pc:spChg>
        <pc:spChg chg="add del">
          <ac:chgData name="" userId="e8814f5d517ac12a" providerId="LiveId" clId="{C8A0EADC-9E66-41C2-81FB-27AF563899AB}" dt="2026-04-21T04:30:18.965" v="975"/>
          <ac:spMkLst>
            <pc:docMk/>
            <pc:sldMk cId="0" sldId="262"/>
            <ac:spMk id="42" creationId="{24888A07-9472-43F1-9E29-0BE92CDCAE0F}"/>
          </ac:spMkLst>
        </pc:spChg>
        <pc:spChg chg="add del">
          <ac:chgData name="" userId="e8814f5d517ac12a" providerId="LiveId" clId="{C8A0EADC-9E66-41C2-81FB-27AF563899AB}" dt="2026-04-21T04:30:27.092" v="977" actId="478"/>
          <ac:spMkLst>
            <pc:docMk/>
            <pc:sldMk cId="0" sldId="262"/>
            <ac:spMk id="43" creationId="{7BDFF9BC-B82B-49C6-AEBA-EB5B458C7311}"/>
          </ac:spMkLst>
        </pc:spChg>
      </pc:sldChg>
      <pc:sldChg chg="add del">
        <pc:chgData name="" userId="e8814f5d517ac12a" providerId="LiveId" clId="{C8A0EADC-9E66-41C2-81FB-27AF563899AB}" dt="2026-04-21T03:26:18.022" v="109" actId="2696"/>
        <pc:sldMkLst>
          <pc:docMk/>
          <pc:sldMk cId="3689571544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29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CoverGen</a:t>
            </a:r>
            <a:r>
              <a:rPr lang="en-US" sz="2000" b="1" dirty="0">
                <a:solidFill>
                  <a:srgbClr val="5DCAA5"/>
                </a:solidFill>
              </a:rPr>
              <a:t>Quote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h-TH" sz="4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</a:t>
            </a:r>
            <a:r>
              <a:rPr lang="en-US" sz="4400" b="1" dirty="0" err="1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ประเมินราคาและออกใบเสนอราคา</a:t>
            </a:r>
            <a:endParaRPr lang="en-US" sz="4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DCAA5"/>
                </a:solidFill>
              </a:rPr>
              <a:t>Smart Quotation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2059806" cy="868680"/>
          </a:xfrm>
          <a:prstGeom prst="rect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2800" b="1" dirty="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ผป</a:t>
            </a:r>
            <a:r>
              <a:rPr lang="th-TH" sz="28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บ.</a:t>
            </a:r>
            <a:r>
              <a:rPr lang="th-TH" sz="2800" b="1" dirty="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กฟ</a:t>
            </a:r>
            <a:r>
              <a:rPr lang="th-TH" sz="28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จ.</a:t>
            </a:r>
            <a:r>
              <a:rPr lang="th-TH" sz="2800" b="1" dirty="0" err="1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บฬ</a:t>
            </a:r>
            <a:r>
              <a:rPr lang="th-TH" sz="28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endParaRPr lang="en-US" sz="2800" b="1" dirty="0">
              <a:solidFill>
                <a:schemeClr val="bg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0" y="274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3931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74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3931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274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3931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นำเสนอต่อผู้บริหาร  |  ปี 2569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ปัญหาที่เราพบเจออยู่ทุกวัน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22"/>
                </a:solidFill>
              </a:rPr>
              <a:t>The Pain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06240" cy="141732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20624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22"/>
                </a:solidFill>
              </a:rPr>
              <a:t>ความล่าช้าและซับซ้อน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4A42"/>
                </a:solidFill>
              </a:rPr>
              <a:t>ต้องเปิดตารางอ้างอิงหลายหน้า เทียบอัตราน้ำมัน วันเวลา และกดเครื่องคิดเลขคำนวณเองทุกขั้นตอน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206240" cy="141732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420624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9F27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22"/>
                </a:solidFill>
              </a:rPr>
              <a:t>ความเสี่ยงจาก Human Error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810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4A42"/>
                </a:solidFill>
              </a:rPr>
              <a:t>แยกประเภทรัฐ/เอกชน คำนวณ VAT ระยะทาง พิมพ์ชื่อ-ที่อยู่จากบัตรประชาชน — โอกาสผิดพลาดสูงมาก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06240" cy="141732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26080"/>
            <a:ext cx="4206240" cy="64008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4D3C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22"/>
                </a:solidFill>
              </a:rPr>
              <a:t>ขาดความเป็นมาตรฐาน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4A42"/>
                </a:solidFill>
              </a:rPr>
              <a:t>ใช้ Excel/Word ทำเอกสาร ฟอร์มอาจเบี้ยว ตกหล่นหมายเหตุสำคัญ ไม่เหมือนกันในแต่ละสาขา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206240" cy="141732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420624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321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22"/>
                </a:solidFill>
              </a:rPr>
              <a:t>ลูกค้าต้องรอนาน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34564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4A42"/>
                </a:solidFill>
              </a:rPr>
              <a:t>ลูกค้าหน้างานหรือหน่วยงานที่มาติดต่อต้องรอคิว รอเอกสาร ทำให้ภาพลักษณ์ กฟภ. ดูไม่เป็นมืออาชีพ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ปัญหาเหล่านี้ส่งผลต่อความน่าเชื่อถือขององค์กรและรายได้ที่อาจสูญเสียไป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แนวคิดการทำงานของโปรแกรม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22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960120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OCR &amp; Auto-Fill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4D3C"/>
                </a:solidFill>
              </a:rPr>
              <a:t>อ่านบัตรประชาชนอัตโนมัติ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2148840" cy="18288"/>
          </a:xfrm>
          <a:prstGeom prst="rect">
            <a:avLst/>
          </a:prstGeom>
          <a:solidFill>
            <a:srgbClr val="D9EAE4"/>
          </a:solidFill>
          <a:ln w="12700">
            <a:solidFill>
              <a:srgbClr val="D9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42"/>
                </a:solidFill>
              </a:rPr>
              <a:t>ถ่ายรูปบัตรประชาชน ระบบ AI อ่านชื่อและที่อยู่กรอกลงฟอร์มให้อัตโนมัติในเสี้ยววินาที ไม่ต้องพิมพ์เอง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2697480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417320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9019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Recommendation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377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วิเคราะห์และแนะนำขนาด Gen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2715768"/>
            <a:ext cx="2148840" cy="18288"/>
          </a:xfrm>
          <a:prstGeom prst="rect">
            <a:avLst/>
          </a:prstGeom>
          <a:solidFill>
            <a:srgbClr val="D9EAE4"/>
          </a:solidFill>
          <a:ln w="12700">
            <a:solidFill>
              <a:srgbClr val="D9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8892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42"/>
                </a:solidFill>
              </a:rPr>
              <a:t>ระบุโหลด (kW หรือ Amp) ระบบ "คิดแทน" แนะนำขนาด Gen ที่เหมาะสม และจำลองการกินน้ำมันแบบเรียลไทม์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32588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325880"/>
            <a:ext cx="2697480" cy="9601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72200" y="19019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One-Click Quotation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3774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9F27"/>
                </a:solidFill>
              </a:rPr>
              <a:t>PDF ถูกต้องตามระเบียบ กฟภ.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2715768"/>
            <a:ext cx="2148840" cy="18288"/>
          </a:xfrm>
          <a:prstGeom prst="rect">
            <a:avLst/>
          </a:prstGeom>
          <a:solidFill>
            <a:srgbClr val="D9EAE4"/>
          </a:solidFill>
          <a:ln w="12700">
            <a:solidFill>
              <a:srgbClr val="D9E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78892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4A42"/>
                </a:solidFill>
              </a:rPr>
              <a:t>สร้างไฟล์ PDF ใบเสนอราคาที่ถูกต้องตามระเบียบ กฟภ. ปี 2559 และ 2566 พร้อมช่องให้ผู้บริหารเซ็นอนุมัติทันที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4D3C"/>
                </a:solidFill>
              </a:rPr>
              <a:t>กระบวนการทั้งหมดจบได้ในหน้าจอเดียว — พนักงานไม่ต้องสลับหน้าต่างหรือเปิดตารางอ้างอิงใดๆ เพิ่มเติม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หน้าจอโปรแกรมจริง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22"/>
                </a:solidFill>
              </a:rPr>
              <a:t>ดูง่าย ใช้ง่าย ผลลัพธ์ชัดเจน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320040" y="47548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4D3C"/>
                </a:solidFill>
              </a:rPr>
              <a:t>โมดูลครอบการ์ด PEA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63440" y="47548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9F27"/>
                </a:solidFill>
              </a:rPr>
              <a:t>โมดูลเช่าเครื่องกำเนิดไฟฟ้า</a:t>
            </a:r>
            <a:endParaRPr lang="en-US" sz="1100" dirty="0"/>
          </a:p>
        </p:txBody>
      </p:sp>
      <p:sp>
        <p:nvSpPr>
          <p:cNvPr id="83" name="AutoShape 2" descr="Preview of 1776739024395_image.png">
            <a:extLst>
              <a:ext uri="{FF2B5EF4-FFF2-40B4-BE49-F238E27FC236}">
                <a16:creationId xmlns:a16="http://schemas.microsoft.com/office/drawing/2014/main" id="{C014983A-C16E-4B2F-9C94-19AF9B85F2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/>
          </a:p>
        </p:txBody>
      </p:sp>
      <p:pic>
        <p:nvPicPr>
          <p:cNvPr id="84" name="รูปภาพ 83">
            <a:extLst>
              <a:ext uri="{FF2B5EF4-FFF2-40B4-BE49-F238E27FC236}">
                <a16:creationId xmlns:a16="http://schemas.microsoft.com/office/drawing/2014/main" id="{BF0536C6-AD02-49D4-ADCC-25ECE3F2A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99" y="1225235"/>
            <a:ext cx="4191202" cy="2997829"/>
          </a:xfrm>
          <a:prstGeom prst="rect">
            <a:avLst/>
          </a:prstGeom>
        </p:spPr>
      </p:pic>
      <p:pic>
        <p:nvPicPr>
          <p:cNvPr id="85" name="รูปภาพ 84">
            <a:extLst>
              <a:ext uri="{FF2B5EF4-FFF2-40B4-BE49-F238E27FC236}">
                <a16:creationId xmlns:a16="http://schemas.microsoft.com/office/drawing/2014/main" id="{DE24F703-BECD-457B-952F-48440575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5829"/>
            <a:ext cx="4305401" cy="4371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การแก้ปัญหาที่เกิดขึ้น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22"/>
                </a:solidFill>
              </a:rPr>
              <a:t>The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291840" cy="713232"/>
          </a:xfrm>
          <a:prstGeom prst="rect">
            <a:avLst/>
          </a:prstGeom>
          <a:solidFill>
            <a:srgbClr val="FDF3F2"/>
          </a:solidFill>
          <a:ln w="6350">
            <a:solidFill>
              <a:srgbClr val="E8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54864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167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042"/>
                </a:solidFill>
              </a:rPr>
              <a:t>ก่อน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42"/>
                </a:solidFill>
              </a:rPr>
              <a:t>รอหลายนาที ต้องเปิดตารางอ้างอิงหลายหน้า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30168" y="14813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3360" y="1280160"/>
            <a:ext cx="3749040" cy="713232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280160"/>
            <a:ext cx="54864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3167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4D3C"/>
                </a:solidFill>
              </a:rPr>
              <a:t>หลัง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42232" y="1499616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922"/>
                </a:solidFill>
              </a:rPr>
              <a:t>จบได้ในไม่กี่วินาที กระบวนการทั้งหมดในหน้าจอเดียว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444752"/>
            <a:ext cx="11430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44475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ลดเวลาทำงานกว่า 80%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3291840" cy="713232"/>
          </a:xfrm>
          <a:prstGeom prst="rect">
            <a:avLst/>
          </a:prstGeom>
          <a:solidFill>
            <a:srgbClr val="FDF3F2"/>
          </a:solidFill>
          <a:ln w="6350">
            <a:solidFill>
              <a:srgbClr val="E8C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57984"/>
            <a:ext cx="54864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1945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042"/>
                </a:solidFill>
              </a:rPr>
              <a:t>ก่อน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" y="23774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42"/>
                </a:solidFill>
              </a:rPr>
              <a:t>ความผิดพลาดจากการคิดเลข กฎซับซ้อน VAT ระยะทาง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30168" y="23591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023360" y="2157984"/>
            <a:ext cx="3749040" cy="713232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157984"/>
            <a:ext cx="54864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21945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4D3C"/>
                </a:solidFill>
              </a:rPr>
              <a:t>หลัง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42232" y="237744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922"/>
                </a:solidFill>
              </a:rPr>
              <a:t>กฎระเบียบและตารางน้ำมันฝังในระบบ คำนวณอัตโนมัติ 100%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22576"/>
            <a:ext cx="1143000" cy="384048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232257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Human Error = 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035808"/>
            <a:ext cx="3291840" cy="713232"/>
          </a:xfrm>
          <a:prstGeom prst="rect">
            <a:avLst/>
          </a:prstGeom>
          <a:solidFill>
            <a:srgbClr val="FDF3F2"/>
          </a:solidFill>
          <a:ln w="6350">
            <a:solidFill>
              <a:srgbClr val="E8C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035808"/>
            <a:ext cx="54864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07238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042"/>
                </a:solidFill>
              </a:rPr>
              <a:t>ก่อน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8912" y="3255264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42"/>
                </a:solidFill>
              </a:rPr>
              <a:t>พิมพ์ชื่อ-ที่อยู่เองจากบัตรประชาชน เสี่ยงสะกดผิด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30168" y="32369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023360" y="3035808"/>
            <a:ext cx="3749040" cy="713232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3035808"/>
            <a:ext cx="54864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42232" y="30723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4D3C"/>
                </a:solidFill>
              </a:rPr>
              <a:t>หลัง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42232" y="325526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922"/>
                </a:solidFill>
              </a:rPr>
              <a:t>AI OCR ถ่ายรูปบัตรแล้วกรอกให้อัตโนมัติภายในเสี้ยววินาที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0" y="3200400"/>
            <a:ext cx="1143000" cy="38404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3200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ประหยัดเวลา 3-5 นาที/ราย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913632"/>
            <a:ext cx="3291840" cy="713232"/>
          </a:xfrm>
          <a:prstGeom prst="rect">
            <a:avLst/>
          </a:prstGeom>
          <a:solidFill>
            <a:srgbClr val="FDF3F2"/>
          </a:solidFill>
          <a:ln w="6350">
            <a:solidFill>
              <a:srgbClr val="E8C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913632"/>
            <a:ext cx="54864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950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5042"/>
                </a:solidFill>
              </a:rPr>
              <a:t>ก่อน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8912" y="4133088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4A42"/>
                </a:solidFill>
              </a:rPr>
              <a:t>ฟอร์มเบี้ยว ลายเซ็นขาดตอน ตกหล่นหมายเหตุสำคัญ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30168" y="41148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023360" y="3913632"/>
            <a:ext cx="3749040" cy="713232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23360" y="3913632"/>
            <a:ext cx="54864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2232" y="3950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4D3C"/>
                </a:solidFill>
              </a:rPr>
              <a:t>หลัง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42232" y="413308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922"/>
                </a:solidFill>
              </a:rPr>
              <a:t>PDF มาตรฐาน กฟภ. พร้อมช่องเซ็นอนุมัติ จัดหน้าอัตโนมัติ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863840" y="4078224"/>
            <a:ext cx="11430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407822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เอกสารถูกต้อง 100%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ทุกปัญหาในสไลด์ก่อนหน้าได้รับการแก้ไขด้วยโปรแกรมนี้โดยตรง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ผลกระทบเชิงบวกต่อองค์กร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22"/>
                </a:solidFill>
              </a:rPr>
              <a:t>The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14600" cy="1280160"/>
          </a:xfrm>
          <a:prstGeom prst="rect">
            <a:avLst/>
          </a:prstGeom>
          <a:solidFill>
            <a:srgbClr val="F7FAF9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514600" cy="64008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A4D3C"/>
                </a:solidFill>
              </a:rPr>
              <a:t>&gt;80%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4A42"/>
                </a:solidFill>
              </a:rPr>
              <a:t>ลดเวลาทำงาน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4A42"/>
                </a:solidFill>
              </a:rPr>
              <a:t>ของพนักงาน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14600" cy="1280160"/>
          </a:xfrm>
          <a:prstGeom prst="rect">
            <a:avLst/>
          </a:prstGeom>
          <a:solidFill>
            <a:srgbClr val="F7FAF9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251460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167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9E75"/>
                </a:solidFill>
              </a:rPr>
              <a:t>~0%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4A42"/>
                </a:solidFill>
              </a:rPr>
              <a:t>ความผิดพลาด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4A42"/>
                </a:solidFill>
              </a:rPr>
              <a:t>ในการคิดราคา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514600" cy="1280160"/>
          </a:xfrm>
          <a:prstGeom prst="rect">
            <a:avLst/>
          </a:prstGeom>
          <a:solidFill>
            <a:srgbClr val="F7FAF9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251460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167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9F27"/>
                </a:solidFill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4A42"/>
                </a:solidFill>
              </a:rPr>
              <a:t>เอกสารถูกต้อง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4A42"/>
                </a:solidFill>
              </a:rPr>
              <a:t>ตามระเบียบ กฟภ.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4251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97480"/>
            <a:ext cx="54864" cy="1005840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" y="27706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4D3C"/>
                </a:solidFill>
              </a:rPr>
              <a:t>ยกระดับ Customer Experience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1832" y="309981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42"/>
                </a:solidFill>
              </a:rPr>
              <a:t>ประชาชนและภาคธุรกิจได้รับบริการโปร่งใส ถูกต้อง รวดเร็ว สร้างภาพลักษณ์ กฟภ. ในฐานะองค์กรบริการชั้นนำ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2697480"/>
            <a:ext cx="4251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2697480"/>
            <a:ext cx="54864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27706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9E75"/>
                </a:solidFill>
              </a:rPr>
              <a:t>เพิ่ม Operational Efficiency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94960" y="309981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42"/>
                </a:solidFill>
              </a:rPr>
              <a:t>ทีมวิศวกรและพนักงานลดภาระงานเอกสารซ้ำซาก เอาเวลาที่มีค่าไปโฟกัสงานด้านความปลอดภัยและบำรุงรักษาระบบไฟฟ้า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4251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840480"/>
            <a:ext cx="54864" cy="10058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832" y="39136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9F27"/>
                </a:solidFill>
              </a:rPr>
              <a:t>มาตรฐานเดียวกันทั้งองค์กร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41832" y="424281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42"/>
                </a:solidFill>
              </a:rPr>
              <a:t>ปิดช่องว่างความคลาดเคลื่อน ทุกใบเสนอราคาถูกต้องตามระเบียบ การคำนวณน้ำมันโปร่งใส ตรวจสอบได้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3840480"/>
            <a:ext cx="4251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840480"/>
            <a:ext cx="54864" cy="100584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39136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DCAA5"/>
                </a:solidFill>
              </a:rPr>
              <a:t>ขับเคลื่อน Digital Transformation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94960" y="424281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4A42"/>
                </a:solidFill>
              </a:rPr>
              <a:t>ต่อยอดสู่การทำ Paperless หรือทำงานบนคลาวด์ได้ สอดคล้องนโยบาย Digital Utility ของผู้บริหารองค์กร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4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65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560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65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560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365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2560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2920"/>
            <a:ext cx="20890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What's Next</a:t>
            </a:r>
          </a:p>
        </p:txBody>
      </p:sp>
      <p:sp>
        <p:nvSpPr>
          <p:cNvPr id="21" name="Text 19"/>
          <p:cNvSpPr/>
          <p:nvPr/>
        </p:nvSpPr>
        <p:spPr>
          <a:xfrm>
            <a:off x="548640" y="822960"/>
            <a:ext cx="2341098" cy="882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CoverGenQuote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38912" y="4008354"/>
            <a:ext cx="6400800" cy="950507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24" name="Shape 22"/>
          <p:cNvSpPr/>
          <p:nvPr/>
        </p:nvSpPr>
        <p:spPr>
          <a:xfrm>
            <a:off x="484632" y="4125468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43172"/>
            <a:ext cx="5897880" cy="915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- AI </a:t>
            </a:r>
            <a:r>
              <a:rPr lang="th-TH" sz="1250" dirty="0">
                <a:solidFill>
                  <a:srgbClr val="FFFFFF"/>
                </a:solidFill>
              </a:rPr>
              <a:t>อ่านข้อมูลจากบัตรประชาชน ผู้ใช้ไฟได้ถูกต้อง พร้อมดึงข้อมูล </a:t>
            </a:r>
            <a:r>
              <a:rPr lang="en-US" sz="1250" dirty="0">
                <a:solidFill>
                  <a:srgbClr val="FFFFFF"/>
                </a:solidFill>
              </a:rPr>
              <a:t>CA </a:t>
            </a:r>
            <a:r>
              <a:rPr lang="th-TH" sz="1250" dirty="0">
                <a:solidFill>
                  <a:srgbClr val="FFFFFF"/>
                </a:solidFill>
              </a:rPr>
              <a:t>ออกมาจากระบบ</a:t>
            </a:r>
          </a:p>
          <a:p>
            <a:r>
              <a:rPr lang="th-TH" sz="1250" dirty="0">
                <a:solidFill>
                  <a:srgbClr val="FFFFFF"/>
                </a:solidFill>
              </a:rPr>
              <a:t>- เพิ่มระบบคำนวณค่าใช้จ่ายรถยนต์ชนเสา</a:t>
            </a:r>
          </a:p>
          <a:p>
            <a:r>
              <a:rPr lang="th-TH" sz="1250" dirty="0">
                <a:solidFill>
                  <a:srgbClr val="FFFFFF"/>
                </a:solidFill>
              </a:rPr>
              <a:t>- เพิ่มการ </a:t>
            </a:r>
            <a:r>
              <a:rPr lang="en-US" sz="1250" dirty="0">
                <a:solidFill>
                  <a:srgbClr val="FFFFFF"/>
                </a:solidFill>
              </a:rPr>
              <a:t>log in </a:t>
            </a:r>
            <a:r>
              <a:rPr lang="th-TH" sz="1250" dirty="0">
                <a:solidFill>
                  <a:srgbClr val="FFFFFF"/>
                </a:solidFill>
              </a:rPr>
              <a:t>เข้าระบบ เพื่อเก็บข้อมูลผู้ประมาณการ</a:t>
            </a:r>
          </a:p>
          <a:p>
            <a:r>
              <a:rPr lang="th-TH" sz="1250" dirty="0">
                <a:solidFill>
                  <a:srgbClr val="FFFFFF"/>
                </a:solidFill>
              </a:rPr>
              <a:t>- เพิ่ม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8912" y="2011446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" y="2093742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2011446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250" dirty="0">
                <a:solidFill>
                  <a:srgbClr val="FFFFFF"/>
                </a:solidFill>
              </a:rPr>
              <a:t>- ให้ระบบออกเอกสารสัญญาเช่าฉนวนครอบสายและเครื่องกำเนิดไฟฟ้าได้</a:t>
            </a:r>
          </a:p>
          <a:p>
            <a:pPr marL="0" indent="0">
              <a:buNone/>
            </a:pPr>
            <a:r>
              <a:rPr lang="th-TH" sz="1250" dirty="0">
                <a:solidFill>
                  <a:srgbClr val="FFFFFF"/>
                </a:solidFill>
              </a:rPr>
              <a:t>- มอนิเตอร์ จำนวนฉนวนครอบสายที่เหลือในคลัง สามารถตอบผู้ใช้ไฟได้ทันที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8912" y="2486934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 28"/>
          <p:cNvSpPr/>
          <p:nvPr/>
        </p:nvSpPr>
        <p:spPr>
          <a:xfrm>
            <a:off x="512064" y="2569230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2486934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250" dirty="0">
                <a:solidFill>
                  <a:srgbClr val="FFFFFF"/>
                </a:solidFill>
              </a:rPr>
              <a:t>ให้ระบบคำนวณระยะเองเมื่อกรอกจุดเริ่มต้น-ปลายทาง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0" y="48280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CoverGenQuote  |  Digital Utility — กฟภ. 2569</a:t>
            </a:r>
            <a:endParaRPr lang="en-US" sz="9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EB6B1E82-6C08-4EA6-8636-7BC0DFD4665C}"/>
              </a:ext>
            </a:extLst>
          </p:cNvPr>
          <p:cNvSpPr/>
          <p:nvPr/>
        </p:nvSpPr>
        <p:spPr>
          <a:xfrm>
            <a:off x="438912" y="2960546"/>
            <a:ext cx="6400800" cy="711826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1D3A347D-8E3A-41C1-B0FE-97CE629EEBAF}"/>
              </a:ext>
            </a:extLst>
          </p:cNvPr>
          <p:cNvSpPr/>
          <p:nvPr/>
        </p:nvSpPr>
        <p:spPr>
          <a:xfrm>
            <a:off x="512064" y="3042842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9179FA0D-7D05-4A75-B269-BA80FB91BCC0}"/>
              </a:ext>
            </a:extLst>
          </p:cNvPr>
          <p:cNvSpPr/>
          <p:nvPr/>
        </p:nvSpPr>
        <p:spPr>
          <a:xfrm>
            <a:off x="717218" y="3000168"/>
            <a:ext cx="5897880" cy="623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250" dirty="0">
                <a:solidFill>
                  <a:srgbClr val="FFFFFF"/>
                </a:solidFill>
              </a:rPr>
              <a:t>- ให้ระบบดึงข้อมูลราคาน้ำมันปัจจุบันอัตโนมัติ</a:t>
            </a:r>
          </a:p>
          <a:p>
            <a:r>
              <a:rPr lang="th-TH" sz="1250" dirty="0">
                <a:solidFill>
                  <a:srgbClr val="FFFFFF"/>
                </a:solidFill>
              </a:rPr>
              <a:t>- ใส่ข้อมูล </a:t>
            </a:r>
            <a:r>
              <a:rPr lang="en-US" sz="1250" dirty="0">
                <a:solidFill>
                  <a:srgbClr val="FFFFFF"/>
                </a:solidFill>
              </a:rPr>
              <a:t>pea meter </a:t>
            </a:r>
            <a:r>
              <a:rPr lang="th-TH" sz="1250" dirty="0">
                <a:solidFill>
                  <a:srgbClr val="FFFFFF"/>
                </a:solidFill>
              </a:rPr>
              <a:t>สามารถลิงค์ไปดูโหลดจากเว็บ </a:t>
            </a:r>
            <a:r>
              <a:rPr lang="en-US" sz="1250" dirty="0" err="1">
                <a:solidFill>
                  <a:srgbClr val="FFFFFF"/>
                </a:solidFill>
              </a:rPr>
              <a:t>mrm</a:t>
            </a:r>
            <a:r>
              <a:rPr lang="en-US" sz="1250" dirty="0">
                <a:solidFill>
                  <a:srgbClr val="FFFFFF"/>
                </a:solidFill>
              </a:rPr>
              <a:t> </a:t>
            </a:r>
            <a:r>
              <a:rPr lang="th-TH" sz="1250" dirty="0">
                <a:solidFill>
                  <a:srgbClr val="FFFFFF"/>
                </a:solidFill>
              </a:rPr>
              <a:t>หรือ </a:t>
            </a:r>
            <a:r>
              <a:rPr lang="en-US" sz="1250" dirty="0" err="1">
                <a:solidFill>
                  <a:srgbClr val="FFFFFF"/>
                </a:solidFill>
              </a:rPr>
              <a:t>opsa</a:t>
            </a:r>
            <a:r>
              <a:rPr lang="en-US" sz="1250" dirty="0">
                <a:solidFill>
                  <a:srgbClr val="FFFFFF"/>
                </a:solidFill>
              </a:rPr>
              <a:t> </a:t>
            </a:r>
            <a:r>
              <a:rPr lang="th-TH" sz="1250" dirty="0">
                <a:solidFill>
                  <a:srgbClr val="FFFFFF"/>
                </a:solidFill>
              </a:rPr>
              <a:t>ได้ เพื่อคำนวณโหลดให้ระบบแนะนำขนาด </a:t>
            </a:r>
            <a:r>
              <a:rPr lang="en-US" sz="1250" dirty="0">
                <a:solidFill>
                  <a:srgbClr val="FFFFFF"/>
                </a:solidFill>
              </a:rPr>
              <a:t>gen</a:t>
            </a:r>
            <a:r>
              <a:rPr lang="th-TH" sz="1250" dirty="0">
                <a:solidFill>
                  <a:srgbClr val="FFFFFF"/>
                </a:solidFill>
              </a:rPr>
              <a:t> </a:t>
            </a:r>
          </a:p>
          <a:p>
            <a:r>
              <a:rPr lang="th-TH" sz="1250" dirty="0">
                <a:solidFill>
                  <a:srgbClr val="FFFFFF"/>
                </a:solidFill>
              </a:rPr>
              <a:t>- มอ</a:t>
            </a:r>
            <a:endParaRPr lang="en-US" sz="1250" dirty="0"/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61189C19-C188-472B-BA44-696286DD00FD}"/>
              </a:ext>
            </a:extLst>
          </p:cNvPr>
          <p:cNvSpPr/>
          <p:nvPr/>
        </p:nvSpPr>
        <p:spPr>
          <a:xfrm>
            <a:off x="438912" y="1584257"/>
            <a:ext cx="6400800" cy="365760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A0A71212-3575-4BA7-BE48-18BC2A24943D}"/>
              </a:ext>
            </a:extLst>
          </p:cNvPr>
          <p:cNvSpPr/>
          <p:nvPr/>
        </p:nvSpPr>
        <p:spPr>
          <a:xfrm>
            <a:off x="512064" y="1693164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E5871ACD-14E1-4461-85AA-6EFCC924FE32}"/>
              </a:ext>
            </a:extLst>
          </p:cNvPr>
          <p:cNvSpPr/>
          <p:nvPr/>
        </p:nvSpPr>
        <p:spPr>
          <a:xfrm>
            <a:off x="804672" y="1610868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250" dirty="0">
                <a:solidFill>
                  <a:schemeClr val="bg1"/>
                </a:solidFill>
              </a:rPr>
              <a:t>ให้ระบบ </a:t>
            </a:r>
            <a:r>
              <a:rPr lang="en-US" sz="1250" dirty="0">
                <a:solidFill>
                  <a:schemeClr val="bg1"/>
                </a:solidFill>
              </a:rPr>
              <a:t>generate service mat </a:t>
            </a:r>
            <a:r>
              <a:rPr lang="th-TH" sz="1250" dirty="0">
                <a:solidFill>
                  <a:schemeClr val="bg1"/>
                </a:solidFill>
              </a:rPr>
              <a:t>นำไปทำใบคำร้อง </a:t>
            </a:r>
            <a:r>
              <a:rPr lang="en-US" sz="1250" dirty="0">
                <a:solidFill>
                  <a:schemeClr val="bg1"/>
                </a:solidFill>
              </a:rPr>
              <a:t>Y3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684</Words>
  <Application>Microsoft Office PowerPoint</Application>
  <PresentationFormat>นำเสนอทางหน้าจอ (16:9)</PresentationFormat>
  <Paragraphs>107</Paragraphs>
  <Slides>7</Slides>
  <Notes>7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2" baseType="lpstr">
      <vt:lpstr>Arial</vt:lpstr>
      <vt:lpstr>Calibri</vt:lpstr>
      <vt:lpstr>Cordia New</vt:lpstr>
      <vt:lpstr>TH SarabunPSK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CoverGenQuote</dc:title>
  <dc:subject>PptxGenJS Presentation</dc:subject>
  <dc:creator>PptxGenJS</dc:creator>
  <cp:lastModifiedBy>Kanyanat Phothisawang</cp:lastModifiedBy>
  <cp:revision>6</cp:revision>
  <dcterms:created xsi:type="dcterms:W3CDTF">2026-04-21T02:50:59Z</dcterms:created>
  <dcterms:modified xsi:type="dcterms:W3CDTF">2026-04-22T18:08:25Z</dcterms:modified>
</cp:coreProperties>
</file>