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34440" y="411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CoverGen</a:t>
            </a:r>
            <a:pPr indent="0" marL="0">
              <a:buNone/>
            </a:pPr>
            <a:r>
              <a:rPr lang="en-US" sz="2000" b="1" dirty="0">
                <a:solidFill>
                  <a:srgbClr val="5DCAA5"/>
                </a:solidFill>
              </a:rPr>
              <a:t>Quote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ระบบคิดราคาอัจฉริยะ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สำหรับงานครอบการ์ด PEA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และเช่าเครื่องกำเนิดไฟฟ้า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DCAA5"/>
                </a:solidFill>
              </a:rPr>
              <a:t>ลดความผิดพลาด · เพิ่มความแม่นยำ · ช่วยตัดสินใจได้ทันที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0" y="274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1005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3931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274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1005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3931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74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0" y="1005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737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3200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39319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663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นำเสนอต่อผู้บริหาร  |  2569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ปัญหาที่พบ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22"/>
                </a:solidFill>
              </a:rPr>
              <a:t>ปัญหาที่เกิดขึ้นในปัจจุบัน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3200400"/>
          </a:xfrm>
          <a:prstGeom prst="rect">
            <a:avLst/>
          </a:prstGeom>
          <a:solidFill>
            <a:srgbClr val="F7FAF9"/>
          </a:solidFill>
          <a:ln w="6350">
            <a:solidFill>
              <a:srgbClr val="E2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5176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D3C"/>
                </a:solidFill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84632" y="2212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22"/>
                </a:solidFill>
              </a:rPr>
              <a:t>คิดราคาผิดบ่อยครั้ง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27432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4A42"/>
                </a:solidFill>
              </a:rPr>
              <a:t>พนักงานคำนวณราคาด้วยมือหรือ spreadsheet ส่งผลให้เกิดความผิดพลาด ทั้งการคิดต่ำเกินไปหรือสูงเกินไป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F7FAF9"/>
          </a:solidFill>
          <a:ln w="6350">
            <a:solidFill>
              <a:srgbClr val="E2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65176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9E75"/>
                </a:solidFill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64992" y="2212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22"/>
                </a:solidFill>
              </a:rPr>
              <a:t>ไม่มีข้อมูลช่วยตัดสินใจ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64992" y="27432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4A42"/>
                </a:solidFill>
              </a:rPr>
              <a:t>ผู้ขอเช่า Gen ไม่ทราบว่าควรเลือกขนาดเท่าใด และไม่มีการพยากรณ์ค่าน้ำมันล่วงหน้า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417320"/>
            <a:ext cx="2651760" cy="3200400"/>
          </a:xfrm>
          <a:prstGeom prst="rect">
            <a:avLst/>
          </a:prstGeom>
          <a:solidFill>
            <a:srgbClr val="F7FAF9"/>
          </a:solidFill>
          <a:ln w="6350">
            <a:solidFill>
              <a:srgbClr val="E2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417320"/>
            <a:ext cx="265176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9F27"/>
                </a:solidFill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45352" y="22128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922"/>
                </a:solidFill>
              </a:rPr>
              <a:t>กระบวนการช้าและซ้ำซ้อน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45352" y="2743200"/>
            <a:ext cx="2331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4A42"/>
                </a:solidFill>
              </a:rPr>
              <a:t>การกรอกข้อมูลลูกค้าซ้ำหลายครั้ง ทำให้เสียเวลาและเพิ่มโอกาสเกิดข้อผิดพลาดในข้อมูล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ปัญหาเหล่านี้ส่งผลต่อความน่าเชื่อถือขององค์กรและรายได้ที่อาจสูญเสียไป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โซลูชัน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22"/>
                </a:solidFill>
              </a:rPr>
              <a:t>CoverGenQuote ทำงานอย่างไร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56032" cy="256032"/>
          </a:xfrm>
          <a:prstGeom prst="ellipse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22"/>
                </a:solidFill>
              </a:rPr>
              <a:t>คิดราคาครอบการ์ด PEA อัตโนมัติ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ใช้อัตราค่าบริการตามมาตรฐาน PEA คำนวณทุกรายการอัตโนมัติ พร้อม VAT และตรวจสอบความถูกต้อง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256032" cy="25603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240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22"/>
                </a:solidFill>
              </a:rPr>
              <a:t>วิเคราะห์และแนะนำขนาด Gen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4672" y="25328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ระบุโหลดไฟฟ้า ระบบแนะนำขนาดเครื่องที่เหมาะสม พร้อมเหตุผลและเปรียบเทียบตัวเลือก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256032" cy="256032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108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22"/>
                </a:solidFill>
              </a:rPr>
              <a:t>พยากรณ์การใช้น้ำมันดีเซล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" y="34015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คำนวณปริมาณน้ำมันตามโหลดและชั่วโมงใช้งาน ให้ผู้เช่าทราบค่าใช้จ่ายทั้งหมดก่อนตัดสินใจ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069080"/>
            <a:ext cx="256032" cy="256032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977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922"/>
                </a:solidFill>
              </a:rPr>
              <a:t>AI อ่านบัตรประชาชนอัตโนมัติ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42702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ถ่ายรูปบัตรประชาชน AI ดึงข้อมูลชื่อ-ที่อยู่กรอกแบบฟอร์มทันที ลดขั้นตอนและข้อผิดพลาด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1188720"/>
            <a:ext cx="3657600" cy="3566160"/>
          </a:xfrm>
          <a:prstGeom prst="rect">
            <a:avLst/>
          </a:prstGeom>
          <a:solidFill>
            <a:srgbClr val="F1F5F3"/>
          </a:solidFill>
          <a:ln w="6350">
            <a:solidFill>
              <a:srgbClr val="D1E0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1188720"/>
            <a:ext cx="3657600" cy="292608"/>
          </a:xfrm>
          <a:prstGeom prst="rect">
            <a:avLst/>
          </a:prstGeom>
          <a:solidFill>
            <a:srgbClr val="E8F0EC"/>
          </a:solidFill>
          <a:ln w="6350">
            <a:solidFill>
              <a:srgbClr val="D1E0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30368" y="1298448"/>
            <a:ext cx="91440" cy="91440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76672" y="1298448"/>
            <a:ext cx="91440" cy="91440"/>
          </a:xfrm>
          <a:prstGeom prst="ellipse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22976" y="1298448"/>
            <a:ext cx="91440" cy="914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481328"/>
            <a:ext cx="365760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D1E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66360" y="1481328"/>
            <a:ext cx="1115568" cy="25603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48132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ครอบการ์ด PEA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36792" y="148132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เช่า Gen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07224" y="148132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ประวัติ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66360" y="1783080"/>
            <a:ext cx="1691640" cy="182880"/>
          </a:xfrm>
          <a:prstGeom prst="rect">
            <a:avLst/>
          </a:prstGeom>
          <a:solidFill>
            <a:srgbClr val="E2EDE9"/>
          </a:solidFill>
          <a:ln w="3810">
            <a:solidFill>
              <a:srgbClr val="D1E0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783080"/>
            <a:ext cx="16916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ชื่อผู้รับบริการ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166360" y="2011680"/>
            <a:ext cx="1691640" cy="182880"/>
          </a:xfrm>
          <a:prstGeom prst="rect">
            <a:avLst/>
          </a:prstGeom>
          <a:solidFill>
            <a:srgbClr val="E2EDE9"/>
          </a:solidFill>
          <a:ln w="3810">
            <a:solidFill>
              <a:srgbClr val="D1E0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011680"/>
            <a:ext cx="16916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จำนวนครอบสายไฟ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66360" y="2240280"/>
            <a:ext cx="1691640" cy="182880"/>
          </a:xfrm>
          <a:prstGeom prst="rect">
            <a:avLst/>
          </a:prstGeom>
          <a:solidFill>
            <a:srgbClr val="E2EDE9"/>
          </a:solidFill>
          <a:ln w="3810">
            <a:solidFill>
              <a:srgbClr val="D1E0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240280"/>
            <a:ext cx="1691640" cy="182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วันที่ใช้บริการ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949440" y="1783080"/>
            <a:ext cx="1737360" cy="2743200"/>
          </a:xfrm>
          <a:prstGeom prst="rect">
            <a:avLst/>
          </a:prstGeom>
          <a:solidFill>
            <a:srgbClr val="FFFFFF"/>
          </a:solidFill>
          <a:ln w="3810">
            <a:solidFill>
              <a:srgbClr val="D1E0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18288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2922"/>
                </a:solidFill>
              </a:rPr>
              <a:t>ผลการคำนวณ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95160" y="20756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ค่าครอบสายไฟ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001000" y="2075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A42"/>
                </a:solidFill>
              </a:rPr>
              <a:t>—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995160" y="233172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ค่าแรงช่าง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001000" y="23317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A42"/>
                </a:solidFill>
              </a:rPr>
              <a:t>—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995160" y="25877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ค่าเดินทาง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001000" y="2587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A42"/>
                </a:solidFill>
              </a:rPr>
              <a:t>—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95160" y="28437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VAT 7%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01000" y="28437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D4A42"/>
                </a:solidFill>
              </a:rPr>
              <a:t>—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995160" y="3127248"/>
            <a:ext cx="1627632" cy="18288"/>
          </a:xfrm>
          <a:prstGeom prst="rect">
            <a:avLst/>
          </a:prstGeom>
          <a:solidFill>
            <a:srgbClr val="D1E0DA"/>
          </a:solidFill>
          <a:ln w="12700">
            <a:solidFill>
              <a:srgbClr val="D1E0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3200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922"/>
                </a:solidFill>
              </a:rPr>
              <a:t>รวมทั้งสิ้น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98080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D9E75"/>
                </a:solidFill>
              </a:rPr>
              <a:t>xxx,xxx ฿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95160" y="3566160"/>
            <a:ext cx="1627632" cy="25603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95160" y="356616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ออกใบเสนอราคา PDF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120640" y="4828032"/>
            <a:ext cx="3657600" cy="256032"/>
          </a:xfrm>
          <a:prstGeom prst="rect">
            <a:avLst/>
          </a:prstGeom>
          <a:solidFill>
            <a:srgbClr val="FAEEDA"/>
          </a:solidFill>
          <a:ln w="6350">
            <a:solidFill>
              <a:srgbClr val="F0D4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48280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33806"/>
                </a:solidFill>
              </a:rPr>
              <a:t>AI อ่านบัตรประชาชนอัตโนมัติ — ถ่ายรูป กรอกข้อมูลให้ทันที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กระบวนการทำงาน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22"/>
                </a:solidFill>
              </a:rPr>
              <a:t>ขั้นตอนการใช้งาน CoverGenQuote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53619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536192" cy="685800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536192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2212848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กรอกข้อมูล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หรือถ่ายบัตร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29077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ถ่ายรูปบัตรประชาชน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AI กรอกชื่อ-ที่อยู่ให้อัตโนมัติ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56232" y="1965960"/>
            <a:ext cx="173736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11096" y="186537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29968" y="1463040"/>
            <a:ext cx="153619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9968" y="1463040"/>
            <a:ext cx="1536192" cy="6858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9464" y="1536192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9464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2212848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ระบุรายละเอียด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งาน / โหลด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29077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เลือกประเภทงาน จำนวน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หรือระบุโหลดไฟฟ้าเป็น Amp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66160" y="1965960"/>
            <a:ext cx="173736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21024" y="186537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39896" y="1463040"/>
            <a:ext cx="153619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9896" y="1463040"/>
            <a:ext cx="1536192" cy="6858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1536192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13048" y="2212848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ระบบคำนวณ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และแนะนำ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13048" y="29077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คิดราคา PEA อัตโนมัติ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แนะนำขนาด Gen + น้ำมัน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76088" y="1965960"/>
            <a:ext cx="173736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0952" y="186537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49824" y="1463040"/>
            <a:ext cx="153619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49824" y="1463040"/>
            <a:ext cx="1536192" cy="6858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1536192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22976" y="2212848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ตรวจสอบ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และยืนยัน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22976" y="29077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ผู้ใช้ตรวจสอบรายละเอียด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ทั้งหมดก่อนออกเอกสาร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986016" y="1965960"/>
            <a:ext cx="173736" cy="1828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186537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159752" y="1463040"/>
            <a:ext cx="153619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59752" y="1463040"/>
            <a:ext cx="1536192" cy="685800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99248" y="1536192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99248" y="1536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32904" y="2212848"/>
            <a:ext cx="1389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ออกใบเสนอ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2922"/>
                </a:solidFill>
              </a:rPr>
              <a:t>ราคา PDF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32904" y="2907792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สร้าง PDF พร้อมส่งหรือ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D4A42"/>
                </a:solidFill>
              </a:rPr>
              <a:t>พิมพ์ได้ทันที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ทั้งสองโมดูล (ครอบการ์ด PEA และเช่า Gen) ใช้กระบวนการเดียวกัน ไม่ต้องเรียนรู้ซ้ำ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ฟีเจอร์พิเศษ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22"/>
                </a:solidFill>
              </a:rPr>
              <a:t>AI อ่านบัตรประชาชน — กรอกข้อมูลอัตโนมัติ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3383280"/>
          </a:xfrm>
          <a:prstGeom prst="rect">
            <a:avLst/>
          </a:prstGeom>
          <a:solidFill>
            <a:srgbClr val="F7FAF9"/>
          </a:solidFill>
          <a:ln w="6350">
            <a:solidFill>
              <a:srgbClr val="E2ED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3931920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ก่อน — วิธีเดิม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137160" cy="1371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9222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42"/>
                </a:solidFill>
              </a:rPr>
              <a:t>พนักงานต้องขอสำเนาบัตรฯ หรือจดข้อมูล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350008"/>
            <a:ext cx="137160" cy="1371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29514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42"/>
                </a:solidFill>
              </a:rPr>
              <a:t>กรอกชื่อ-ที่อยู่ด้วยมือทีละฟิลด์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137160" cy="1371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980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42"/>
                </a:solidFill>
              </a:rPr>
              <a:t>มีโอกาสสะกดผิด ชื่อผิด หรือเลขบัตรผิด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55848"/>
            <a:ext cx="137160" cy="1371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0098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42"/>
                </a:solidFill>
              </a:rPr>
              <a:t>ใช้เวลา 3–5 นาทีต่อลูกค้า 1 ราย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858768"/>
            <a:ext cx="137160" cy="13716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80390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A42"/>
                </a:solidFill>
              </a:rPr>
              <a:t>ต้องตรวจสอบซ้ำก่อนออกเอกสาร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3931920" cy="3383280"/>
          </a:xfrm>
          <a:prstGeom prst="rect">
            <a:avLst/>
          </a:prstGeom>
          <a:solidFill>
            <a:srgbClr val="E1F5EE"/>
          </a:solidFill>
          <a:ln w="6350">
            <a:solidFill>
              <a:srgbClr val="9FE1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หลัง — CoverGenQuote + AI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1847088"/>
            <a:ext cx="137160" cy="1371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179222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922"/>
                </a:solidFill>
              </a:rPr>
              <a:t>ถ่ายรูปบัตรประชาชนในแอปได้เลย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83480" y="2350008"/>
            <a:ext cx="137160" cy="1371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229514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922"/>
                </a:solidFill>
              </a:rPr>
              <a:t>AI ดึงชื่อ-ที่อยู่-เลขบัตรกรอกให้อัตโนมัติ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983480" y="2852928"/>
            <a:ext cx="137160" cy="1371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279806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922"/>
                </a:solidFill>
              </a:rPr>
              <a:t>ลดความผิดพลาดจากการพิมพ์ได้เกือบ 100%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83480" y="3355848"/>
            <a:ext cx="137160" cy="1371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330098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922"/>
                </a:solidFill>
              </a:rPr>
              <a:t>ใช้เวลาไม่ถึง 30 วินาทีต่อลูกค้า 1 ราย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83480" y="3858768"/>
            <a:ext cx="137160" cy="1371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3792" y="380390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922"/>
                </a:solidFill>
              </a:rPr>
              <a:t>ข้อมูลถูกต้อง พร้อมออกเอกสารได้ทันที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97680" y="2651760"/>
            <a:ext cx="548640" cy="548640"/>
          </a:xfrm>
          <a:prstGeom prst="ellipse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FAEEDA"/>
          </a:solidFill>
          <a:ln w="6350">
            <a:solidFill>
              <a:srgbClr val="F0D4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3806"/>
                </a:solidFill>
              </a:rPr>
              <a:t>ประหยัดเวลาได้มากกว่า 85% ต่อการรับบริการแต่ละครั้ง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ผลกระทบต่อองค์กร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22"/>
                </a:solidFill>
              </a:rPr>
              <a:t>CoverGenQuote เปลี่ยนแปลงองค์กรอย่างไร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468880" cy="1371600"/>
          </a:xfrm>
          <a:prstGeom prst="rect">
            <a:avLst/>
          </a:prstGeom>
          <a:solidFill>
            <a:srgbClr val="F7FAF9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468880" cy="64008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4D3C"/>
                </a:solidFill>
              </a:rPr>
              <a:t>~0%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42"/>
                </a:solidFill>
              </a:rPr>
              <a:t>ความผิดพลาด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4A42"/>
                </a:solidFill>
              </a:rPr>
              <a:t>ในการคิดราคา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468880" cy="1371600"/>
          </a:xfrm>
          <a:prstGeom prst="rect">
            <a:avLst/>
          </a:prstGeom>
          <a:solidFill>
            <a:srgbClr val="F7FAF9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246888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D9E75"/>
                </a:solidFill>
              </a:rPr>
              <a:t>85%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42"/>
                </a:solidFill>
              </a:rPr>
              <a:t>เวลาที่ประหยัดได้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4A42"/>
                </a:solidFill>
              </a:rPr>
              <a:t>ต่อใบเสนอราคา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468880" cy="1371600"/>
          </a:xfrm>
          <a:prstGeom prst="rect">
            <a:avLst/>
          </a:prstGeom>
          <a:solidFill>
            <a:srgbClr val="F7FAF9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80160"/>
            <a:ext cx="2468880" cy="640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3716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9F27"/>
                </a:solidFill>
              </a:rPr>
              <a:t>100%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126480" y="20574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4A42"/>
                </a:solidFill>
              </a:rPr>
              <a:t>ข้อมูลตามมาตรฐาน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4A42"/>
                </a:solidFill>
              </a:rPr>
              <a:t>PEA ที่อัปเดต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24688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88920"/>
            <a:ext cx="2468880" cy="45720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52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D3C"/>
                </a:solidFill>
              </a:rPr>
              <a:t>★  ความน่าเชื่อถือ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264408"/>
            <a:ext cx="54864" cy="54864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2186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ราคาที่นำเสนอถูกต้องตามมาตรฐาน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694176"/>
            <a:ext cx="54864" cy="54864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6484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ลูกค้าได้รับข้อมูลครบถ้วนก่อนตัดสินใจ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123944"/>
            <a:ext cx="54864" cy="54864"/>
          </a:xfrm>
          <a:prstGeom prst="rect">
            <a:avLst/>
          </a:prstGeom>
          <a:solidFill>
            <a:srgbClr val="0A4D3C"/>
          </a:solidFill>
          <a:ln w="12700">
            <a:solidFill>
              <a:srgbClr val="0A4D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0782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ภาพลักษณ์องค์กรเป็นมืออาชีพ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788920"/>
            <a:ext cx="24688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91840" y="2788920"/>
            <a:ext cx="2468880" cy="457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852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</a:rPr>
              <a:t>⚡  ประสิทธิภาพ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29000" y="3264408"/>
            <a:ext cx="54864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32186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พนักงานทำงานได้เร็วขึ้น ไม่ต้องคำนวณเอง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29000" y="3694176"/>
            <a:ext cx="54864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36484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ลดเวลาตรวจสอบซ้ำ ลดงาน rework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29000" y="4123944"/>
            <a:ext cx="54864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40782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รองรับลูกค้าได้มากขึ้นต่อวัน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2788920"/>
            <a:ext cx="246888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788920"/>
            <a:ext cx="2468880" cy="457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8529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</a:rPr>
              <a:t>◆  ลดความเสี่ยง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63640" y="3264408"/>
            <a:ext cx="54864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82512" y="32186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ไม่มีการคิดราคาต่ำกว่าจริง ลดการขาดทุน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694176"/>
            <a:ext cx="54864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36484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บันทึกประวัติใบเสนอราคาทุกรายการ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4123944"/>
            <a:ext cx="54864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82512" y="40782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A42"/>
                </a:solidFill>
              </a:rPr>
              <a:t>ตรวจสอบย้อนหลังได้ทุกเมื่อ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4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65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560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291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365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2560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3291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365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0972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25603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3291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30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D9E75">
              <a:alpha val="8000"/>
            </a:srgbClr>
          </a:solidFill>
          <a:ln w="12700">
            <a:solidFill>
              <a:srgbClr val="1D9E75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48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DCAA5"/>
                </a:solidFill>
              </a:rPr>
              <a:t>สรุป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9144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CoverGenQuote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พร้อมเริ่มใช้งาน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48640" y="24231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DCAA5"/>
                </a:solidFill>
              </a:rPr>
              <a:t>ระบบที่เกิดจากปัญหาจริง พัฒนาเพื่อแก้ปัญหาจริง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2971800"/>
            <a:ext cx="5943600" cy="347472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3044952"/>
            <a:ext cx="201168" cy="201168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2971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คิดราคาถูกต้องตามมาตรฐาน PEA ทุกครั้ง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447288"/>
            <a:ext cx="5943600" cy="347472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3520440"/>
            <a:ext cx="201168" cy="201168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44728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ลูกค้าได้รับข้อมูลสมบูรณ์ก่อนตัดสินใจ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922776"/>
            <a:ext cx="5943600" cy="347472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3995928"/>
            <a:ext cx="201168" cy="201168"/>
          </a:xfrm>
          <a:prstGeom prst="ellipse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92277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พนักงานทำงานเร็วขึ้น ผิดพลาดน้อยลง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663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CAA5"/>
                </a:solidFill>
              </a:rPr>
              <a:t>ขอบคุณครับ / ค่ะ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48006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CoverGenQuote  |  นำเสนอต่อผู้บริหาร 2569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CoverGenQuote</dc:title>
  <dc:subject>PptxGenJS Presentation</dc:subject>
  <dc:creator>PptxGenJS</dc:creator>
  <cp:lastModifiedBy>PptxGenJS</cp:lastModifiedBy>
  <cp:revision>1</cp:revision>
  <dcterms:created xsi:type="dcterms:W3CDTF">2026-04-21T02:42:05Z</dcterms:created>
  <dcterms:modified xsi:type="dcterms:W3CDTF">2026-04-21T02:42:05Z</dcterms:modified>
</cp:coreProperties>
</file>